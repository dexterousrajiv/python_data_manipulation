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notesMasterIdLst>
    <p:notesMasterId r:id="rId8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notesMaster" Target="notesMasters/notesMaster1.xml"/><Relationship Id="rId90" Type="http://schemas.openxmlformats.org/officeDocument/2006/relationships/presProps" Target="presProps.xml"/><Relationship Id="rId91" Type="http://schemas.openxmlformats.org/officeDocument/2006/relationships/viewProps" Target="viewProps.xml"/><Relationship Id="rId92" Type="http://schemas.openxmlformats.org/officeDocument/2006/relationships/theme" Target="theme/theme1.xml"/><Relationship Id="rId9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deck: every Python topic gets its own definition + worked example on one running Employee/Salary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Basics overview: Introduction, Input and Output, Variables, Operators, Keywords, Data Types, Conditional Statements, Loops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Basics — Introduction: Python reads top to bottom; used here to build an employee payroll tool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Basics — Input and Output: Collect an employee's name and salary from the user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Basics — Variables: Store one employee's details in variables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Basics — Operators: Compute a 10% bonus and check eligibility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Basics — Keywords: if / in / for are reserved words used while scanning employees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Basics — Data Types: Check the type of each employee field before processing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Basics — Conditional Statements: Flag an employee as high or low salary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Basics — Loops: Print every employee's name and salary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 overview: Functions, pass Statement, Global &amp; Local Variables, Recursion, *args and **kwargs, First Class Functions, Lambda Function, map, filter, reduce, Inner Functions, Decorators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 — Functions: A reusable function to calculate bonus for any employee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 — pass Statement: Stub out a feature (tax calculation) to finish later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 — Global &amp; Local Variables: Track total company payroll across function calls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 — Recursion: Recursively sum a list of employee salaries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 — *args and **kwargs: Register a new employee with flexible fields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 — First Class Functions: Pick the right pay-calculation function at runtime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 — Lambda Function: One-line hike calculation for quick use in reports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 — map, filter, reduce: Apply hikes, find high earners, total the payroll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 — Inner Functions: Compute a payslip: outer builds it, inner computes tax privately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Functions — Decorators: Log every salary calculation automatically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Structures overview: Strings, List, Tuple, Dictionary, Sets, Arrays, List Comprehension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Structures — Strings: Clean up an employee name for a report header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Structures — List: Maintain a growing list of employee names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Structures — Tuple: Store an immutable (employee_id, name) record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Structures — Dictionary: Store one employee's full profile by field name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Structures — Sets: Find the unique departments across all employees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Structures — Arrays: Store salaries compactly for numeric processing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Structures — List Comprehension: Shortlist employees earning above 50,000 in one 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Collections Module overview: Counter, heapq, deque, OrderedDict, defaultdict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Collections Module — Counter: Count how many employees are in each department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Collections Module — heapq: Quickly find the top 3 highest-paid employees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Collections Module — deque: Keep a rolling queue of the last 3 new joiners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Collections Module — OrderedDict: Preserve the order employees were hired 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Collections Module — defaultdict: Group employee names by department without key errors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OOP Concepts overview: Classes and Objects, Constructor, self, Inheritance, Polymorphism, Abstraction, Encapsulation, Iterators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OOP Concepts — Classes and Objects: Model an employee as a reusable class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OOP Concepts — Constructor: Set name and salary the moment an employee object is created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OOP Concepts — self: Let an employee object give itself a raise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OOP Concepts — Inheritance: A Manager reuses Employee's fields and adds a team bonus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OOP Concepts — Polymorphism: Full-time and contract employees calculate pay differently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OOP Concepts — Abstraction: Force every payroll type to implement calculate_pay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OOP Concepts — Encapsulation: Keep salary private, expose it only through a method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OOP Concepts — Iterators: Step through a team roster one employee at a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Exception Handling overview: try-except-finally, Built-in Exceptions, User-defined Exception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Exception Handling — try-except-finally: Avoid a crash when calculating average team salary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Exception Handling — Built-in Exceptions: Handle a missing department field gracefully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Exception Handling — User-defined Exception: Reject a salary below the legal minimum wage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 Handling overview: Read Files, Write / Create Files, os Module, pathlib Module, Directory Management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 Handling — Read Files: Load employee records saved earlier from disk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 Handling — Write / Create Files: Save a generated payslip to a text file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 Handling — os Module: Check whether the payroll folder already exists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 Handling — pathlib Module: Build a clean path to this month's payslip file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 Handling — Directory Management: Create one folder per department to store records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Database Handling overview: MySQL, MongoDB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Database Handling — MySQL: Insert a new employee row into the company database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Database Handling — MongoDB: Store an employee document in a NoSQL collection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Packages &amp; Libraries overview: Modules, Packages, GUI Libraries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Packages &amp; Libraries — Modules: Reuse a payroll module's bonus function elsewhere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Packages &amp; Libraries — Packages: Organize the HR system into a proper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Packages &amp; Libraries — GUI Libraries: Simple desktop form to look up an employee's salary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Science overview: NumPy, Pandas, Matplotlib, Seaborn, Statsmodels, Scikit-learn, XGBoost / LightGBM, TensorFlow / Keras, PyTorch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Science — NumPy: Get average and standard deviation of all salaries fast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Science — Pandas: Filter and group the employee table by department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Science — Matplotlib: Plot average salary per department as a bar chart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Science — Seaborn: Visualize the spread of salaries with a boxplot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Science — Statsmodels: Model how experience affects salary with regression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Science — Scikit-learn: Predict salary for a new hire based on years of experience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Science — XGBoost / LightGBM: Predict which employees are likely to resign (attrition)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Science — TensorFlow / Keras: Build a neural net to flag bonus-eligible employees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Science — PyTorch: Run tensor math over the salary column directly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Development overview: Flask, Django, SQLite, SQLAlchemy, Jinja2 Templates, Django Templates, REST API (Flask), Django REST Framework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Development — Flask: Serve one employee's salary through a tiny web API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Development — Django: Define an Employee model backed by the database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Development — SQLite: Persist employee records in a lightweight local database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Development — SQLAlchemy: Query all employees earning above 50,000 via the ORM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Development — Jinja2 Templates: Render an HTML table of employees inside a Flask page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Development — Django Templates: Show the logged-in employee's name on their dashboard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Development — REST API (Flask): Expose the full employee list as JSON for a front-end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Development — Django REST Framework: Serialize employee records for an external API consumer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Projects &amp; Practice overview: Beginner Projects, Intermediate Projects, Advanced Projects, Interview Prep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Projects &amp; Practice — Beginner Projects: A simple salary &amp; bonus calculator CLI tool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Projects &amp; Practice — Intermediate Projects: A small payroll management system with add/search/report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Projects &amp; Practice — Advanced Projects: Run sentiment analysis on employee feedback surveys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Projects &amp; Practice — Interview Prep: Classic interview task: sort employees by salary descending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xterousraji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754880" cy="47548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21488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Through One Real Example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D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an Employee Payroll System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modules  •  72 topics  •  one definition + example per topic</a:t>
            </a:r>
            <a:endParaRPr lang="en-US" sz="1400" dirty="0"/>
          </a:p>
        </p:txBody>
      </p:sp>
      <p:sp>
        <p:nvSpPr>
          <p:cNvPr id="7" name="Text 5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Roadmap</a:t>
            </a:r>
            <a:endParaRPr lang="en-US" sz="38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9AA9BB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28800"/>
            <a:ext cx="438912" cy="43891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7556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075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topics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554480"/>
            <a:ext cx="35204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9AA9BB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828800"/>
            <a:ext cx="438912" cy="43891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17556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2075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topics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1584" y="1554480"/>
            <a:ext cx="35204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9AA9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02752" y="1828800"/>
            <a:ext cx="438912" cy="43891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02752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51392" y="17556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0756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topics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761488"/>
            <a:ext cx="35204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9AA9BB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035808"/>
            <a:ext cx="438912" cy="43891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3035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29626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Module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32826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topics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25112" y="2761488"/>
            <a:ext cx="35204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9AA9BB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035808"/>
            <a:ext cx="438912" cy="43891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3035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29626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32826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topics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1584" y="2761488"/>
            <a:ext cx="35204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9AA9BB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02752" y="3035808"/>
            <a:ext cx="438912" cy="43891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02752" y="3035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851392" y="296265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32826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topics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3968496"/>
            <a:ext cx="35204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9AA9BB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" y="4242816"/>
            <a:ext cx="438912" cy="43891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49808" y="4242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298448" y="416966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298448" y="44897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topics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25112" y="3968496"/>
            <a:ext cx="35204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9AA9BB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26280" y="4242816"/>
            <a:ext cx="438912" cy="43891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526280" y="4242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074920" y="416966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Handling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5074920" y="44897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topics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101584" y="3968496"/>
            <a:ext cx="35204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9AA9BB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302752" y="4242816"/>
            <a:ext cx="438912" cy="43891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302752" y="4242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851392" y="416966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&amp; Libraries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8851392" y="44897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topics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5175504"/>
            <a:ext cx="35204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9AA9BB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49808" y="5449824"/>
            <a:ext cx="438912" cy="43891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49808" y="5449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1298448" y="53766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1298448" y="56967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topics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325112" y="5175504"/>
            <a:ext cx="35204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9AA9BB">
                <a:alpha val="3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526280" y="5449824"/>
            <a:ext cx="438912" cy="43891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4526280" y="5449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5074920" y="53766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5074920" y="56967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topics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101584" y="5175504"/>
            <a:ext cx="35204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9AA9BB">
                <a:alpha val="3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302752" y="5449824"/>
            <a:ext cx="438912" cy="43891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302752" y="5449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8851392" y="53766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Practice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8851392" y="56967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topics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30352" cy="5303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Basics</a:t>
            </a:r>
            <a:endParaRPr lang="en-US" sz="3000" dirty="0"/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9105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129105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26187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51960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reads top to bottom; used here to build an employee payroll tool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185851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4256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194256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191338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Output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17111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 employee's name and salary from the user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51002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9407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9407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256489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82262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one employee's details in variables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16153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24558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" y="324558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21640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47413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10% bonus and check eligibility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81304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89709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65760" y="389709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386791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412564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in / for are reserved words used while scanning employees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46455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54860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65760" y="454860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" y="451942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1097280" y="477715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type of each employee field before processing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11606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520011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65760" y="520011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097280" y="517093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1097280" y="542866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 employee as high or low salary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576757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585162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65760" y="585162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97280" y="582244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1097280" y="608017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every employee's name and salary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 •  Topic 1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reads top to bottom; used here to build an employee payroll tool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print('Employee Payroll System')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529584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822192"/>
            <a:ext cx="1037844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 Payroll System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 •  Topic 2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and Output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 employee's name and salary from the user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input('Employee name: ')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 = float(input('Salary: '))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print(name, 'earns', salary)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34256"/>
            <a:ext cx="1037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 earns 25000.0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 •  Topic 3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one employee's details in variables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'Ram'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 = 25000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 = 'Sales'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print(name, salary, dept)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297680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590288"/>
            <a:ext cx="103784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 25000 Sales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 •  Topic 4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10% bonus and check eligibility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 = 25000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 = salary * 0.10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print(bonus, salary &gt; 50000)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34256"/>
            <a:ext cx="1037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2500.0 False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 •  Topic 5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in / for are reserved words used while scanning employees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 = ['Ram','Sita']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print('Ram' in employees)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85616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78224"/>
            <a:ext cx="10378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 •  Topic 6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type of each employee field before processing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salary, active = 'Ram', 25000, True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print(type(name), type(salary), type(active))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85616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78224"/>
            <a:ext cx="10378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'str'&gt; &lt;class 'int'&gt; &lt;class 'bool'&gt;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 •  Topic 7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Statements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 employee as high or low salary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 = 25000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salary &gt; 50000: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print('High salary')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print('Low salary')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553712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846320"/>
            <a:ext cx="10378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salary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 •  Topic 8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every employee's name and salary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 = {'Ram':25000, 'Sita':62000}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sal in employees.items():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print(name, sal)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34256"/>
            <a:ext cx="1037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 25000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Sita 62000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30352" cy="5303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3000" dirty="0"/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91672" cy="448239"/>
          </a:xfrm>
          <a:prstGeom prst="roundRect">
            <a:avLst>
              <a:gd name="adj" fmla="val 32640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74244"/>
            <a:ext cx="313767" cy="313767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1274244"/>
            <a:ext cx="313767" cy="313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261872"/>
            <a:ext cx="10332720" cy="206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468062"/>
            <a:ext cx="10332720" cy="24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function to calculate bonus for any employee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728216"/>
            <a:ext cx="11091672" cy="448239"/>
          </a:xfrm>
          <a:prstGeom prst="roundRect">
            <a:avLst>
              <a:gd name="adj" fmla="val 32640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795452"/>
            <a:ext cx="313767" cy="313767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1795452"/>
            <a:ext cx="313767" cy="313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1783080"/>
            <a:ext cx="10332720" cy="206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Statement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1989270"/>
            <a:ext cx="10332720" cy="24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out a feature (tax calculation) to finish later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249424"/>
            <a:ext cx="11091672" cy="448239"/>
          </a:xfrm>
          <a:prstGeom prst="roundRect">
            <a:avLst>
              <a:gd name="adj" fmla="val 32640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316660"/>
            <a:ext cx="313767" cy="313767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316660"/>
            <a:ext cx="313767" cy="313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2304288"/>
            <a:ext cx="10332720" cy="206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&amp; Local Variables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510478"/>
            <a:ext cx="10332720" cy="24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total company payroll across function calls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2770632"/>
            <a:ext cx="11091672" cy="448239"/>
          </a:xfrm>
          <a:prstGeom prst="roundRect">
            <a:avLst>
              <a:gd name="adj" fmla="val 32640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837868"/>
            <a:ext cx="313767" cy="313767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" y="2837868"/>
            <a:ext cx="313767" cy="313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2825496"/>
            <a:ext cx="10332720" cy="206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031686"/>
            <a:ext cx="10332720" cy="24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sum a list of employee salaries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291840"/>
            <a:ext cx="11091672" cy="448239"/>
          </a:xfrm>
          <a:prstGeom prst="roundRect">
            <a:avLst>
              <a:gd name="adj" fmla="val 32640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359076"/>
            <a:ext cx="313767" cy="313767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65760" y="3359076"/>
            <a:ext cx="313767" cy="313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3346704"/>
            <a:ext cx="10332720" cy="206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and **kwargs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3552894"/>
            <a:ext cx="10332720" cy="24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new employee with flexible fields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3813048"/>
            <a:ext cx="11091672" cy="448239"/>
          </a:xfrm>
          <a:prstGeom prst="roundRect">
            <a:avLst>
              <a:gd name="adj" fmla="val 32640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880284"/>
            <a:ext cx="313767" cy="313767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65760" y="3880284"/>
            <a:ext cx="313767" cy="313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" y="3867912"/>
            <a:ext cx="10332720" cy="206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 Functions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97280" y="4074102"/>
            <a:ext cx="10332720" cy="24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pay-calculation function at runtime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4334256"/>
            <a:ext cx="11091672" cy="448239"/>
          </a:xfrm>
          <a:prstGeom prst="roundRect">
            <a:avLst>
              <a:gd name="adj" fmla="val 32640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01492"/>
            <a:ext cx="313767" cy="313767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65760" y="4401492"/>
            <a:ext cx="313767" cy="313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097280" y="4389120"/>
            <a:ext cx="10332720" cy="206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Function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97280" y="4595310"/>
            <a:ext cx="10332720" cy="24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hike calculation for quick use in reports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4855464"/>
            <a:ext cx="11091672" cy="448239"/>
          </a:xfrm>
          <a:prstGeom prst="roundRect">
            <a:avLst>
              <a:gd name="adj" fmla="val 32640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4922700"/>
            <a:ext cx="313767" cy="313767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65760" y="4922700"/>
            <a:ext cx="313767" cy="313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97280" y="4910328"/>
            <a:ext cx="10332720" cy="206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filter, reduce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1097280" y="5116518"/>
            <a:ext cx="10332720" cy="24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hikes, find high earners, total the payroll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" y="5376672"/>
            <a:ext cx="11091672" cy="448239"/>
          </a:xfrm>
          <a:prstGeom prst="roundRect">
            <a:avLst>
              <a:gd name="adj" fmla="val 32640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5443908"/>
            <a:ext cx="313767" cy="313767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65760" y="5443908"/>
            <a:ext cx="313767" cy="313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097280" y="5431536"/>
            <a:ext cx="10332720" cy="206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Functions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1097280" y="5637726"/>
            <a:ext cx="10332720" cy="24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payslip: outer builds it, inner computes tax privately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8640" y="5897880"/>
            <a:ext cx="11091672" cy="448239"/>
          </a:xfrm>
          <a:prstGeom prst="roundRect">
            <a:avLst>
              <a:gd name="adj" fmla="val 32640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5965116"/>
            <a:ext cx="313767" cy="313767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365760" y="5965116"/>
            <a:ext cx="313767" cy="313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1097280" y="5952744"/>
            <a:ext cx="10332720" cy="206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1097280" y="6158934"/>
            <a:ext cx="10332720" cy="24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salary calculation automatically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•  Topic 1 of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function to calculate bonus for any employee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bonus(salary):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salary * 0.10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print(bonus(25000))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34256"/>
            <a:ext cx="1037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2500.0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•  Topic 2 of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Statement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 out a feature (tax calculation) to finish later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calculate_tax(salary):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  # TODO: implement tax slabs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print(calculate_tax(25000))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34256"/>
            <a:ext cx="1037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•  Topic 3 of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&amp; Local Variables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total company payroll across function calls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total_payroll =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add_salary(sal):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global total_payroll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total_payroll += sal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add_salary(25000); add_salary(62000)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print(total_payroll)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09744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102352"/>
            <a:ext cx="10378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87000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•  Topic 4 of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Recursion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sum a list of employee salaries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total(salaries):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salaries: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salaries[0] + total(salaries[1:])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print(total([25000,62000,48000]))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553712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846320"/>
            <a:ext cx="10378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135000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•  Topic 5 of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*args and **kwargs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new employee with flexible fields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add_employee(name, *skills, **details):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print(name, skills, details)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add_employee('Ram','Python','SQL', dept='Sales')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34256"/>
            <a:ext cx="1037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 ('Python', 'SQL') {'dept': 'Sales'}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•  Topic 6 of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Class Functions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pay-calculation function at runtime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hourly(h): return h*300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fixed(h): return 25000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pay_fn = hourly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print(pay_fn(8))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297680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590288"/>
            <a:ext cx="103784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2400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•  Topic 7 of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 Function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hike calculation for quick use in reports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hike = lambda salary: salary * 1.10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print(hike(25000))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85616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78224"/>
            <a:ext cx="10378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27500.0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•  Topic 8 of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map, filter, reduce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hikes, find high earners, total the payroll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functools import reduce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salaries = [25000,62000,48000]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hiked = list(map(lambda s: s*1.1, salaries))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= list(filter(lambda s: s&gt;50000, salaries))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reduce(lambda a,b: a+b, salaries)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print(hiked, high, total)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09744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102352"/>
            <a:ext cx="10378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[27500.0, 68200.0, 52800.0] [62000, 48000] 135000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•  Topic 9 of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 Functions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payslip: outer builds it, inner computes tax privately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payslip(salary):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tax():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salary*0.05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salary - tax()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print(payslip(25000))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553712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846320"/>
            <a:ext cx="10378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23750.0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 •  Topic 10 of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Decorators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salary calculation automatically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log(fn):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wrapper(sal):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print('Calculating for', sal)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fn(sal)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wrapper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@log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bonus(sal): return sal*0.1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print(bonus(25000))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32180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614416"/>
            <a:ext cx="10378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Calculating for 25000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2500.0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30352" cy="5303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</a:t>
            </a:r>
            <a:endParaRPr lang="en-US" sz="3000" dirty="0"/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91672" cy="640341"/>
          </a:xfrm>
          <a:prstGeom prst="roundRect">
            <a:avLst>
              <a:gd name="adj" fmla="val 22848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03059"/>
            <a:ext cx="448239" cy="44823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1303059"/>
            <a:ext cx="448239" cy="44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261872"/>
            <a:ext cx="10332720" cy="2945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556429"/>
            <a:ext cx="10332720" cy="34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an employee name for a report header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1951591"/>
            <a:ext cx="11091672" cy="640341"/>
          </a:xfrm>
          <a:prstGeom prst="roundRect">
            <a:avLst>
              <a:gd name="adj" fmla="val 22848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47642"/>
            <a:ext cx="448239" cy="44823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2047642"/>
            <a:ext cx="448239" cy="44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006455"/>
            <a:ext cx="10332720" cy="2945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301012"/>
            <a:ext cx="10332720" cy="34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growing list of employee names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696174"/>
            <a:ext cx="11091672" cy="640341"/>
          </a:xfrm>
          <a:prstGeom prst="roundRect">
            <a:avLst>
              <a:gd name="adj" fmla="val 22848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92225"/>
            <a:ext cx="448239" cy="44823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792225"/>
            <a:ext cx="448239" cy="44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2751038"/>
            <a:ext cx="10332720" cy="2945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045595"/>
            <a:ext cx="10332720" cy="34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 immutable (employee_id, name) record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440757"/>
            <a:ext cx="11091672" cy="640341"/>
          </a:xfrm>
          <a:prstGeom prst="roundRect">
            <a:avLst>
              <a:gd name="adj" fmla="val 22848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536808"/>
            <a:ext cx="448239" cy="44823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" y="3536808"/>
            <a:ext cx="448239" cy="44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495621"/>
            <a:ext cx="10332720" cy="2945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790178"/>
            <a:ext cx="10332720" cy="34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one employee's full profile by field name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185339"/>
            <a:ext cx="11091672" cy="640341"/>
          </a:xfrm>
          <a:prstGeom prst="roundRect">
            <a:avLst>
              <a:gd name="adj" fmla="val 22848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281391"/>
            <a:ext cx="448239" cy="44823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65760" y="4281391"/>
            <a:ext cx="448239" cy="44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4240203"/>
            <a:ext cx="10332720" cy="2945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4534760"/>
            <a:ext cx="10332720" cy="34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unique departments across all employees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929922"/>
            <a:ext cx="11091672" cy="640341"/>
          </a:xfrm>
          <a:prstGeom prst="roundRect">
            <a:avLst>
              <a:gd name="adj" fmla="val 22848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5025973"/>
            <a:ext cx="448239" cy="44823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65760" y="5025973"/>
            <a:ext cx="448239" cy="44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" y="4984786"/>
            <a:ext cx="10332720" cy="2945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1097280" y="5279343"/>
            <a:ext cx="10332720" cy="34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salaries compactly for numeric processing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674505"/>
            <a:ext cx="11091672" cy="640341"/>
          </a:xfrm>
          <a:prstGeom prst="roundRect">
            <a:avLst>
              <a:gd name="adj" fmla="val 22848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5770556"/>
            <a:ext cx="448239" cy="44823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65760" y="5770556"/>
            <a:ext cx="448239" cy="4482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097280" y="5729369"/>
            <a:ext cx="10332720" cy="29455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1097280" y="6023926"/>
            <a:ext cx="10332720" cy="345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employees earning above 50,000 in one line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 •  Topic 1 of 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an employee name for a report header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'  ram kumar  '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print(name.strip().title())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85616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78224"/>
            <a:ext cx="10378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 Kumar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 •  Topic 2 of 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growing list of employee names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= ['Ram','Sita']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team.append('Arjun')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print(team, len(team))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34256"/>
            <a:ext cx="1037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['Ram', 'Sita', 'Arjun'] 3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 •  Topic 3 of 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 immutable (employee_id, name) record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= (101, 'Ram')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print(record[0], record[1])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85616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78224"/>
            <a:ext cx="10378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 Ram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 •  Topic 4 of 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Dictionary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one employee's full profile by field name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 = {'name':'Ram','salary':25000,'dept':'Sales'}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print(emp['name'], emp.get('dept'))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85616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78224"/>
            <a:ext cx="10378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 Sales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 •  Topic 5 of 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unique departments across all employees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depts = ['Sales','IT','Sales','HR']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print(set(depts))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85616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78224"/>
            <a:ext cx="10378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{'Sales', 'IT', 'HR'}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 •  Topic 6 of 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salaries compactly for numeric processing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array import array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salaries = array('i',[25000,62000,48000])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print(salaries[1])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34256"/>
            <a:ext cx="1037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62000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 •  Topic 7 of 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Comprehension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employees earning above 50,000 in one line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salaries = [25000,62000,48000,90000]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print([s for s in salaries if s &gt; 50000])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85616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78224"/>
            <a:ext cx="10378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[62000, 90000]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30352" cy="5303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Module</a:t>
            </a:r>
            <a:endParaRPr lang="en-US" sz="3000" dirty="0"/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2618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6236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many employees are in each department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1214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402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1762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heapq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5380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find the top 3 highest-paid employees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358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546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0906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524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rolling queue of the last 3 new joiners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9502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690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0050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OrderedDict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3668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the order employees were hired in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8646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9834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6576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49194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defaultdict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52812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employee names by department without key errors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Module  •  Topic 1 of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Counter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how many employees are in each department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Counter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depts = ['Sales','IT','Sales','HR','IT']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print(Counter(depts))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34256"/>
            <a:ext cx="1037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Counter({'Sales': 2, 'IT': 2, 'HR': 1})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Module  •  Topic 2 of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heapq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find the top 3 highest-paid employees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heapq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salaries = [25000,62000,48000,90000,35000]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print(heapq.nlargest(3, salaries))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34256"/>
            <a:ext cx="1037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[90000, 62000, 48000]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Module  •  Topic 3 of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deque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rolling queue of the last 3 new joiners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deque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joiners = deque(maxlen=3)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 in ['Ram','Sita','Arjun','Meera']: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joiners.append(n)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print(joiners)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553712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846320"/>
            <a:ext cx="10378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deque(['Sita', 'Arjun', 'Meera'], maxlen=3)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Module  •  Topic 4 of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OrderedDict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the order employees were hired 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OrderedDict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hires = OrderedDict()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hires['Ram']=1; hires['Sita']=2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print(hires)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297680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590288"/>
            <a:ext cx="103784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OrderedDict({'Ram': 1, 'Sita': 2})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Module  •  Topic 5 of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defaultdict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employee names by department without key errors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defaultdict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teams = defaultdict(list)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teams['Sales'].append('Ram')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teams['Sales'].append('Meera')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print(dict(teams))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553712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846320"/>
            <a:ext cx="10378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{'Sales': ['Ram', 'Meera']}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30352" cy="5303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Concepts</a:t>
            </a:r>
            <a:endParaRPr lang="en-US" sz="3000" dirty="0"/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9105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129105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26187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and Objects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51960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 employee as a reusable class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185851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4256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194256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191338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17111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name and salary the moment an employee object is created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51002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9407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9407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256489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82262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 employee object give itself a raise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16153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24558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" y="324558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21640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47413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reuses Employee's fields and adds a team bonus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81304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89709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65760" y="389709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386791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412564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and contract employees calculate pay differently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46455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54860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65760" y="454860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" y="451942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1097280" y="477715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every payroll type to implement calculate_pay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11606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520011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65760" y="520011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097280" y="517093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1097280" y="542866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salary private, expose it only through a method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576757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585162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65760" y="585162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97280" y="582244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Iterators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1097280" y="608017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through a team roster one employee at a time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 •  Topic 1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 and Objects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 employee as a reusable class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Employee: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company = 'Acme'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print(Employee().company)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34256"/>
            <a:ext cx="1037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Acme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 •  Topic 2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name and salary the moment an employee object is created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Employee: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salary):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self.name, self.salary = name, salary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Employee('Ram', 25000)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print(e.name, e.salary)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553712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846320"/>
            <a:ext cx="10378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 25000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 •  Topic 3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 employee object give itself a raise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Employee: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salary):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self.salary = salary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raise_salary(self, pct):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self.salary *= (1+pct)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Employee(25000)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e.raise_salary(0.1)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print(e.salary)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32180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614416"/>
            <a:ext cx="10378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27500.0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 •  Topic 4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reuses Employee's fields and adds a team bonus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Employee: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salary):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self.salary = salary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Manager(Employee):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salary, bonus):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super().__init__(salary)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self.bonus = bonus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Manager(60000, 5000)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print(m.salary + m.bonus)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577840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870448"/>
            <a:ext cx="10378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65000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 •  Topic 5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Polymorphism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and contract employees calculate pay differently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FullTime: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pay(self): return 25000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Contractor: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pay(self): return 300*20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 in (FullTime(), Contractor()):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print(e.pay())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09744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102352"/>
            <a:ext cx="10378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6000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 •  Topic 6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every payroll type to implement calculate_pay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abc import ABC, abstractmethod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Payroll(ABC):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@abstractmethod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calculate_pay(self): ...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Staff(Payroll):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calculate_pay(self): return 25000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print(Staff().calculate_pay())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065776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358384"/>
            <a:ext cx="10378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25000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 •  Topic 7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salary private, expose it only through a method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Employee: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salary):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self.__salary = salary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get_salary(self):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self.__salary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print(Employee(25000).get_salary())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09744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102352"/>
            <a:ext cx="10378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25000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 •  Topic 8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Iterators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through a team roster one employee at a time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= iter(['Ram','Sita','Arjun'])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print(next(team), next(team))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85616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78224"/>
            <a:ext cx="10378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 Sita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30352" cy="5303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Handling</a:t>
            </a:r>
            <a:endParaRPr lang="en-US" sz="3000" dirty="0"/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2618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try-except-finally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6236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 crash when calculating average team salary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1214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402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1762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Exceptions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5380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 missing department field gracefully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358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546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0906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Exception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524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 salary below the legal minimum wage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 •  Topic 1 of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try-except-finally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 crash when calculating average team salary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salaries = []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 = sum(salaries)/len(salaries)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ZeroDivisionError: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 = 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print('Average salary:', avg)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065776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358384"/>
            <a:ext cx="10378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salary: 0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 •  Topic 2 of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Exceptions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 missing department field gracefully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 = {'name':'Ram'}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print(emp['dept'])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KeyError: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print('Department not set')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553712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846320"/>
            <a:ext cx="10378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 not set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 •  Topic 3 of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User-defined Exception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a salary below the legal minimum wage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SalaryTooLowError(Exception):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hire(salary):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salary &lt; 15000: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SalaryTooLowError('Too low')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'Hired'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hire(10000)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SalaryTooLowError as 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print(e)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605272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897880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low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30352" cy="5303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Handling</a:t>
            </a:r>
            <a:endParaRPr lang="en-US" sz="3000" dirty="0"/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2618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6236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employee records saved earlier from disk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1214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402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1762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/ Create Files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5380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generated payslip to a text file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358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546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0906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Module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524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the payroll folder already exists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9502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690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0050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pathlib Module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3668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 path to this month's payslip file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8646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9834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6576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49194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Management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52812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folder per department to store records</a:t>
            </a:r>
            <a:endParaRPr lang="en-US" sz="11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 •  Topic 1 of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Files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employee records saved earlier from disk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open('employees.txt') as f: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print(f.read())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85616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78224"/>
            <a:ext cx="10378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Ram,25000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Sita,62000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 •  Topic 2 of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/ Create Files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generated payslip to a text file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open('payslip.txt','w') as f: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f.write('Ram: Net Pay 23750')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85616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78224"/>
            <a:ext cx="10378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(file payslip.txt created)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 •  Topic 3 of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Module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the payroll folder already exists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print(os.path.exists('payroll'))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85616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78224"/>
            <a:ext cx="10378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 •  Topic 4 of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pathlib Module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 path to this month's payslip file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pathlib import Path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Path('payroll') / '2026' / 'ram_payslip.txt'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34256"/>
            <a:ext cx="1037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payroll/2026/ram_payslip.txt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 •  Topic 5 of 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Directory Management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folder per department to store records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dept in ['Sales','IT','HR']: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os.makedirs(f'records/{dept}', exist_ok=True)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print(os.listdir('records'))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297680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590288"/>
            <a:ext cx="103784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['Sales', 'IT', 'HR']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30352" cy="5303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Handling</a:t>
            </a:r>
            <a:endParaRPr lang="en-US" sz="3000" dirty="0"/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2618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6236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new employee row into the company database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1214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402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1762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5380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 employee document in a NoSQL collection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Handling  •  Topic 1 of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new employee row into the company database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mysql.connector as mysql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= mysql.connect(host='localhost',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database='hr')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 = db.cursor()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cur.execute("INSERT INTO emp VALUES(%s,%s)",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('Ram', 25000))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db.commit()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065776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358384"/>
            <a:ext cx="10378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row inserted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Handling  •  Topic 2 of 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 employee document in a NoSQL collection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pymongo import MongoClient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= MongoClient()['hr']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 = {'name':'Ram', 'salary':25000}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db.employees.insert_one(emp)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297680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590288"/>
            <a:ext cx="103784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InsertOneResult(...)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30352" cy="5303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 &amp; Libraries</a:t>
            </a:r>
            <a:endParaRPr lang="en-US" sz="3000" dirty="0"/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2618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6236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 payroll module's bonus function elsewhere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1214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402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1762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5380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the HR system into a proper package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358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546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0906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Libraries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524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desktop form to look up an employee's salary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&amp; Libraries  •  Topic 1 of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 payroll module's bonus function elsewhere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payroll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print(payroll.bonus(25000))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85616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78224"/>
            <a:ext cx="10378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2500.0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&amp; Libraries  •  Topic 2 of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the HR system into a proper package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hr_system.payroll import calculate_pay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print(calculate_pay('Ram'))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85616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78224"/>
            <a:ext cx="10378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25000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&amp; Libraries  •  Topic 3 of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 Libraries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desktop form to look up an employee's salary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tkinter as tk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= tk.Tk()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tk.Label(root, text='Ram: 25000').pack()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root.mainloop()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297680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590288"/>
            <a:ext cx="103784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(window shows 'Ram: 25000')</a:t>
            </a:r>
            <a:endParaRPr lang="en-US" sz="1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30352" cy="5303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</a:t>
            </a:r>
            <a:endParaRPr lang="en-US" sz="3000" dirty="0"/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91672" cy="498043"/>
          </a:xfrm>
          <a:prstGeom prst="roundRect">
            <a:avLst>
              <a:gd name="adj" fmla="val 29376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1714"/>
            <a:ext cx="348630" cy="34863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1281714"/>
            <a:ext cx="348630" cy="34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261872"/>
            <a:ext cx="10332720" cy="22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490972"/>
            <a:ext cx="10332720" cy="26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average and standard deviation of all salaries fast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786128"/>
            <a:ext cx="11091672" cy="498043"/>
          </a:xfrm>
          <a:prstGeom prst="roundRect">
            <a:avLst>
              <a:gd name="adj" fmla="val 29376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860834"/>
            <a:ext cx="348630" cy="34863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1860834"/>
            <a:ext cx="348630" cy="34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1840992"/>
            <a:ext cx="10332720" cy="22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070092"/>
            <a:ext cx="10332720" cy="26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and group the employee table by department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365248"/>
            <a:ext cx="11091672" cy="498043"/>
          </a:xfrm>
          <a:prstGeom prst="roundRect">
            <a:avLst>
              <a:gd name="adj" fmla="val 29376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439954"/>
            <a:ext cx="348630" cy="34863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439954"/>
            <a:ext cx="348630" cy="34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2420112"/>
            <a:ext cx="10332720" cy="22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649212"/>
            <a:ext cx="10332720" cy="26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average salary per department as a bar chart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2944368"/>
            <a:ext cx="11091672" cy="498043"/>
          </a:xfrm>
          <a:prstGeom prst="roundRect">
            <a:avLst>
              <a:gd name="adj" fmla="val 29376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019074"/>
            <a:ext cx="348630" cy="34863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" y="3019074"/>
            <a:ext cx="348630" cy="34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2999232"/>
            <a:ext cx="10332720" cy="22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228332"/>
            <a:ext cx="10332720" cy="26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the spread of salaries with a boxplot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523488"/>
            <a:ext cx="11091672" cy="498043"/>
          </a:xfrm>
          <a:prstGeom prst="roundRect">
            <a:avLst>
              <a:gd name="adj" fmla="val 29376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598194"/>
            <a:ext cx="348630" cy="34863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65760" y="3598194"/>
            <a:ext cx="348630" cy="34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3578352"/>
            <a:ext cx="10332720" cy="22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3807452"/>
            <a:ext cx="10332720" cy="26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how experience affects salary with regression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102608"/>
            <a:ext cx="11091672" cy="498043"/>
          </a:xfrm>
          <a:prstGeom prst="roundRect">
            <a:avLst>
              <a:gd name="adj" fmla="val 29376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177314"/>
            <a:ext cx="348630" cy="34863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65760" y="4177314"/>
            <a:ext cx="348630" cy="34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" y="4157472"/>
            <a:ext cx="10332720" cy="22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97280" y="4386572"/>
            <a:ext cx="10332720" cy="26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salary for a new hire based on years of experience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4681728"/>
            <a:ext cx="11091672" cy="498043"/>
          </a:xfrm>
          <a:prstGeom prst="roundRect">
            <a:avLst>
              <a:gd name="adj" fmla="val 29376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756434"/>
            <a:ext cx="348630" cy="34863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65760" y="4756434"/>
            <a:ext cx="348630" cy="34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097280" y="4736592"/>
            <a:ext cx="10332720" cy="22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97280" y="4965692"/>
            <a:ext cx="10332720" cy="26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which employees are likely to resign (attrition)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5260848"/>
            <a:ext cx="11091672" cy="498043"/>
          </a:xfrm>
          <a:prstGeom prst="roundRect">
            <a:avLst>
              <a:gd name="adj" fmla="val 29376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5335554"/>
            <a:ext cx="348630" cy="34863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65760" y="5335554"/>
            <a:ext cx="348630" cy="34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97280" y="5315712"/>
            <a:ext cx="10332720" cy="22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1097280" y="5544812"/>
            <a:ext cx="10332720" cy="26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neural net to flag bonus-eligible employees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" y="5839968"/>
            <a:ext cx="11091672" cy="498043"/>
          </a:xfrm>
          <a:prstGeom prst="roundRect">
            <a:avLst>
              <a:gd name="adj" fmla="val 29376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5914674"/>
            <a:ext cx="348630" cy="34863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365760" y="5914674"/>
            <a:ext cx="348630" cy="3486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1097280" y="5894832"/>
            <a:ext cx="10332720" cy="2291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1097280" y="6123932"/>
            <a:ext cx="10332720" cy="268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tensor math over the salary column directly</a:t>
            </a:r>
            <a:endParaRPr lang="en-US" sz="9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•  Topic 1 of 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average and standard deviation of all salaries fast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salaries = np.array([25000,62000,48000,90000])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print(salaries.mean(), salaries.std())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34256"/>
            <a:ext cx="1037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56250.0 23629.65...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•  Topic 2 of 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and group the employee table by department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{'Name':['Ram','Sita'],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'Dept':['Sales','IT'],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'Salary':[25000,62000]}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pd.DataFrame(data)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print(df.groupby('Dept').Salary.mean())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09744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102352"/>
            <a:ext cx="103784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      62000.0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   25000.0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•  Topic 3 of 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average salary per department as a bar chart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plt.bar(['Sales','IT'], [25000,62000])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34256"/>
            <a:ext cx="1037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(bar chart window)</a:t>
            </a:r>
            <a:endParaRPr lang="en-US" sz="15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•  Topic 4 of 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Seaborn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the spread of salaries with a boxplot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sns.boxplot(x=[25000,62000,48000,90000])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85616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78224"/>
            <a:ext cx="10378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(boxplot chart)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•  Topic 5 of 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Statsmodels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how experience affects salary with regression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statsmodels.api as sm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sm.add_constant(experience)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sm.OLS(salary, X).fit()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print(model.params)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297680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590288"/>
            <a:ext cx="103784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   18000.5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        4200.3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•  Topic 6 of 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salary for a new hire based on years of experience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LinearRegression().fit(experience, salary)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print(model.predict([[5]]))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34256"/>
            <a:ext cx="1037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[52340.6]</a:t>
            </a:r>
            <a:endParaRPr lang="en-US" sz="15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•  Topic 7 of 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/ LightGBM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which employees are likely to resign (attrition)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xgboost import XGBClassifier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clf = XGBClassifier().fit(X_train, y_attrition)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print(clf.predict(X_test)[:5])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34256"/>
            <a:ext cx="1037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 1 0 0 1]</a:t>
            </a:r>
            <a:endParaRPr lang="en-US" sz="15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•  Topic 8 of 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 / Keras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neural net to flag bonus-eligible employees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tensorflow import keras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= keras.layers.Dense(1,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activation='sigmoid')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keras.Sequential([layer])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model.compile('adam','binary_crossentropy')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553712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846320"/>
            <a:ext cx="10378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&lt;Sequential model built&gt;</a:t>
            </a:r>
            <a:endParaRPr lang="en-US" sz="15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•  Topic 9 of 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PyTorch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tensor math over the salary column directly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salaries = torch.tensor([25000.,62000.,48000.])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print(salaries.mean())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34256"/>
            <a:ext cx="1037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tensor(45000.)</a:t>
            </a:r>
            <a:endParaRPr lang="en-US" sz="15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30352" cy="5303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Development</a:t>
            </a:r>
            <a:endParaRPr lang="en-US" sz="3000" dirty="0"/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9105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129105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26187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51960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one employee's salary through a tiny web API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185851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4256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194256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191338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17111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Employee model backed by the database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51002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9407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259407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256489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82262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employee records in a lightweight local database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16153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24558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" y="324558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21640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347413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all employees earning above 50,000 via the ORM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81304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89709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65760" y="389709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386791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412564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an HTML table of employees inside a Flask page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46455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54860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65760" y="454860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" y="451942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Templates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1097280" y="477715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logged-in employee's name on their dashboard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11606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520011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65760" y="520011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097280" y="517093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(Flask)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1097280" y="542866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the full employee list as JSON for a front-end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5767578"/>
            <a:ext cx="11091672" cy="560299"/>
          </a:xfrm>
          <a:prstGeom prst="roundRect">
            <a:avLst>
              <a:gd name="adj" fmla="val 26112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5851623"/>
            <a:ext cx="392209" cy="392209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65760" y="5851623"/>
            <a:ext cx="392209" cy="392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97280" y="5822442"/>
            <a:ext cx="10332720" cy="257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1097280" y="6080179"/>
            <a:ext cx="10332720" cy="30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employee records for an external API consumer</a:t>
            </a:r>
            <a:endParaRPr lang="en-US" sz="10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Topic 1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one employee's salary through a tiny web API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flask import Flask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Flask(__name__)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@app.route('/salary/&lt;name&gt;')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salary(name):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{'name':name,'salary':25000}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553712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846320"/>
            <a:ext cx="10378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/salary/Ram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{'name': 'Ram', 'salary': 25000}</a:t>
            </a:r>
            <a:endParaRPr lang="en-US" sz="15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Topic 2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Employee model backed by the database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django.db import models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Employee(models.Model):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models.CharField(max_length=50)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salary = models.IntegerField()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297680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590288"/>
            <a:ext cx="103784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 table created via migration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Topic 3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employee records in a lightweight local database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sqlite3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= sqlite3.connect('hr.db')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con.execute('INSERT INTO emp VALUES (?,?)',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('Ram', 25000))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con.commit()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553712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846320"/>
            <a:ext cx="10378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row inserted</a:t>
            </a:r>
            <a:endParaRPr lang="en-US" sz="15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Topic 4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SQLAlchemy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all employees earning above 50,000 via the ORM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session.query(Employee)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q.filter(Employee.salary &gt; 50000)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print(result.all())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34256"/>
            <a:ext cx="1037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[&lt;Employee Sita&gt;, &lt;Employee Meera&gt;]</a:t>
            </a:r>
            <a:endParaRPr lang="en-US" sz="15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Topic 5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Jinja2 Templates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an HTML table of employees inside a Flask page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raw %}&lt;tr&gt;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&lt;td&gt;{{ name }}&lt;/td&gt;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&lt;td&gt;{{ salary }}&lt;/td&gt;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&lt;/tr&gt;{% endraw %}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297680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590288"/>
            <a:ext cx="103784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&lt;tr&gt;&lt;td&gt;Ram&lt;/td&gt;&lt;td&gt;25000&lt;/td&gt;&lt;/tr&gt;</a:t>
            </a:r>
            <a:endParaRPr lang="en-US" sz="15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Topic 6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 Templates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logged-in employee's name on their dashboard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raw %}&lt;h2&gt;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Welcome, {{ employee.name }}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&lt;/h2&gt;{% endraw %}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34256"/>
            <a:ext cx="1037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&lt;h2&gt;Welcome, Ram&lt;/h2&gt;</a:t>
            </a:r>
            <a:endParaRPr lang="en-US" sz="15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Topic 7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API (Flask)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the full employee list as JSON for a front-end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@app.route('/api/employees')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employees(): return jsonify(employee_list)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85616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78224"/>
            <a:ext cx="10378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[{"name": "Ram", "salary": 25000}, ...]</a:t>
            </a:r>
            <a:endParaRPr lang="en-US" sz="15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Topic 8 of 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 REST Framework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 employee records for an external API consumer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EmpSerializer(serializers.ModelSerializer):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 Meta: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 = Employee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fields = ['name','salary']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297680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590288"/>
            <a:ext cx="103784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{'name': 'Ram', 'salary': 25000}</a:t>
            </a:r>
            <a:endParaRPr lang="en-US" sz="15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30352" cy="53035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36576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Projects &amp; Practice</a:t>
            </a:r>
            <a:endParaRPr lang="en-US" sz="3000" dirty="0"/>
          </a:p>
        </p:txBody>
      </p:sp>
      <p:sp>
        <p:nvSpPr>
          <p:cNvPr id="5" name="Text 3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2618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Projects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6236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salary &amp; bonus calculator CLI tool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1214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402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1762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Projects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25380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payroll management system with add/search/report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358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546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0906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Projects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4524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sentiment analysis on employee feedback surveys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950208"/>
            <a:ext cx="11091672" cy="786384"/>
          </a:xfrm>
          <a:prstGeom prst="roundRect">
            <a:avLst>
              <a:gd name="adj" fmla="val 18605"/>
            </a:avLst>
          </a:prstGeom>
          <a:solidFill>
            <a:srgbClr val="EAF0F8"/>
          </a:solidFill>
          <a:ln w="9525">
            <a:solidFill>
              <a:srgbClr val="D7E1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6908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005072"/>
            <a:ext cx="10332720" cy="3617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366809"/>
            <a:ext cx="10332720" cy="424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interview task: sort employees by salary descending</a:t>
            </a:r>
            <a:endParaRPr lang="en-US" sz="12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Practice  •  Topic 1 of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Beginner Projects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salary &amp; bonus calculator CLI tool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 = float(input('Salary: '))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print('Bonus:', salary*0.1)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785616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078224"/>
            <a:ext cx="1037844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Bonus: 2500.0</a:t>
            </a:r>
            <a:endParaRPr lang="en-US" sz="15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Practice  •  Topic 2 of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 Projects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payroll management system with add/search/report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Payroll: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self.emps = {}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add(self, name, sal):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self.emps[name] = sal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Payroll()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p.add('Ram', 25000)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print(p.emps)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32180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614416"/>
            <a:ext cx="10378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{'Ram': 25000}</a:t>
            </a:r>
            <a:endParaRPr lang="en-US" sz="15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Practice  •  Topic 3 of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Projects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sentiment analysis on employee feedback surveys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textblob import TextBlob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 = 'Great work environment'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print(TextBlob(feedback).sentiment.polarity)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334256"/>
            <a:ext cx="10378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endParaRPr lang="en-US" sz="15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6C7E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Practice  •  Topic 4 of 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5029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Prep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8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27632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46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interview task: sort employees by salary descending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109960" cy="4160520"/>
          </a:xfrm>
          <a:prstGeom prst="roundRect">
            <a:avLst>
              <a:gd name="adj" fmla="val 2637"/>
            </a:avLst>
          </a:prstGeom>
          <a:solidFill>
            <a:srgbClr val="132A4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60604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953512"/>
            <a:ext cx="10378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emps = {'Ram':25000,'Sita':62000,'Arjun':48000}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= sorted(emps.items(),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key=lambda x: x[1], reverse=True)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print(top)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297680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590288"/>
            <a:ext cx="103784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[('Sita', 62000), ('Arjun', 48000),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('Ram', 25000)]</a:t>
            </a:r>
            <a:endParaRPr lang="en-US" sz="15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3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931920"/>
            <a:ext cx="4206240" cy="42062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97280" y="13716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next</a:t>
            </a:r>
            <a:endParaRPr lang="en-US" sz="3800" dirty="0"/>
          </a:p>
        </p:txBody>
      </p:sp>
      <p:sp>
        <p:nvSpPr>
          <p:cNvPr id="4" name="Text 2">
            <a:hlinkClick r:id="rId1" tooltip=""/>
          </p:cNvPr>
          <p:cNvSpPr txBox="1"/>
          <p:nvPr/>
        </p:nvSpPr>
        <p:spPr>
          <a:xfrm>
            <a:off x="8595360" y="182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u="sng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github.com/dexterousrajiv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43000" y="2578608"/>
            <a:ext cx="384048" cy="38404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4688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daily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7889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quizzes and coding problems for each chapter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43000" y="3493008"/>
            <a:ext cx="384048" cy="38404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33832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projects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703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Paper Scissors → Tic Tac Toe → To-Do web app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43000" y="4407408"/>
            <a:ext cx="384048" cy="38404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297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track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783080" y="46177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(NumPy, Pandas, ML) or Web Dev (Flask, Django)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143000" y="5321808"/>
            <a:ext cx="384048" cy="38404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43000" y="5321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52120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55321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Python interview questions and DSA in Python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87</Slides>
  <Notes>87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2026-09-20T14:21:05Z</dcterms:created>
  <dcterms:modified xsi:type="dcterms:W3CDTF">2026-09-20T14:21:05Z</dcterms:modified>
</cp:coreProperties>
</file>